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753600" cx="130048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e0496a5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96e0496a5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bf166573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d4bf166573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bf166573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g3d4bf166573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4bf166573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d4bf166573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4bf166573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d4bf166573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bf166573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g3d4bf166573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bf166573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d4bf166573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Título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Foto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>
            <p:ph idx="2" type="pic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3" type="body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4"/>
              <a:buFont typeface="Helvetica Neue"/>
              <a:buNone/>
              <a:defRPr b="1" sz="2304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Foto Alternativa">
  <p:cSld name="Título e Foto Alternativa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Marcadores">
  <p:cSld name="Título e Marcadore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cadores">
  <p:cSld name="Marcadore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Marcadores e Foto">
  <p:cSld name="Título, Marcadores e Fot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3" type="body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ção">
  <p:cSld name="Seçã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b="0" sz="8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enas Título">
  <p:cSld name="Apenas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sz="3800"/>
            </a:lvl1pPr>
            <a:lvl2pPr indent="-22860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sz="3800"/>
            </a:lvl2pPr>
            <a:lvl3pPr indent="-22860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sz="3800"/>
            </a:lvl3pPr>
            <a:lvl4pPr indent="-22860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sz="3800"/>
            </a:lvl4pPr>
            <a:lvl5pPr indent="-22860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sz="3800"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laração">
  <p:cSld name="Declaraçã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Helvetica Neue"/>
              <a:buNone/>
              <a:defRPr sz="8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to Principal">
  <p:cSld name="Fato Principal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  <a:defRPr b="1" sz="3800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0"/>
              <a:buFont typeface="Helvetica Neue"/>
              <a:buNone/>
              <a:defRPr b="1" sz="176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0"/>
              <a:buFont typeface="Helvetica Neue"/>
              <a:buNone/>
              <a:defRPr b="1" sz="176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0"/>
              <a:buFont typeface="Helvetica Neue"/>
              <a:buNone/>
              <a:defRPr b="1" sz="176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0"/>
              <a:buFont typeface="Helvetica Neue"/>
              <a:buNone/>
              <a:defRPr b="1" sz="176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00"/>
              <a:buFont typeface="Helvetica Neue"/>
              <a:buNone/>
              <a:defRPr b="1" sz="17600"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">
  <p:cSld name="Citaçã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sz="6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4"/>
              <a:buFont typeface="Helvetica Neue"/>
              <a:buNone/>
              <a:defRPr b="1" sz="2304"/>
            </a:lvl1pPr>
            <a:lvl2pPr indent="-369189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Fotos">
  <p:cSld name="Três Foto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>
            <p:ph idx="2" type="pic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/>
          <p:nvPr>
            <p:ph idx="3" type="pic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4"/>
          <p:cNvSpPr/>
          <p:nvPr>
            <p:ph idx="4" type="pic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>
            <p:ph idx="2" type="pic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b="0" i="0" sz="13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sz="13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62915" lvl="0" marL="4572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62915" lvl="1" marL="9144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62915" lvl="2" marL="13716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62915" lvl="3" marL="18288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62915" lvl="4" marL="22860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62915" lvl="5" marL="27432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462915" lvl="6" marL="32004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462915" lvl="7" marL="36576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62915" lvl="8" marL="4114800" marR="0" rtl="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3690"/>
              <a:buFont typeface="Helvetica Neue"/>
              <a:buChar char="•"/>
              <a:def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None/>
              <a:defRPr b="1" i="0" sz="6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idx="4294967295" type="ctrTitle"/>
          </p:nvPr>
        </p:nvSpPr>
        <p:spPr>
          <a:xfrm>
            <a:off x="1461840" y="6604992"/>
            <a:ext cx="10945216" cy="194421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Helvetica Neue"/>
              <a:buNone/>
            </a:pPr>
            <a:r>
              <a:rPr lang="pt-BR" sz="2800">
                <a:solidFill>
                  <a:srgbClr val="FFFF00"/>
                </a:solidFill>
              </a:rPr>
              <a:t>Cidade melhor</a:t>
            </a:r>
            <a:b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Equipe</a:t>
            </a:r>
            <a:r>
              <a:rPr lang="pt-BR" sz="2800">
                <a:solidFill>
                  <a:srgbClr val="FFFF00"/>
                </a:solidFill>
              </a:rPr>
              <a:t>:</a:t>
            </a:r>
            <a: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Gustavo Pivoto</a:t>
            </a:r>
            <a:b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Rafael Reis</a:t>
            </a:r>
            <a:b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 sz="2800">
                <a:solidFill>
                  <a:srgbClr val="FFFF00"/>
                </a:solidFill>
              </a:rPr>
              <a:t>3</a:t>
            </a:r>
            <a:r>
              <a:rPr b="1" i="0" lang="pt-BR" sz="2800" u="none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º. Período de Sistemas de Informação - 2025</a:t>
            </a:r>
            <a:endParaRPr b="1" i="0" sz="2800" u="none" cap="none" strike="noStrike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Introdução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8"/>
          <p:cNvSpPr txBox="1"/>
          <p:nvPr/>
        </p:nvSpPr>
        <p:spPr>
          <a:xfrm>
            <a:off x="290000" y="2894250"/>
            <a:ext cx="117246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2200">
                <a:latin typeface="Times New Roman"/>
                <a:ea typeface="Times New Roman"/>
                <a:cs typeface="Times New Roman"/>
                <a:sym typeface="Times New Roman"/>
              </a:rPr>
              <a:t>A proposta inicial do trabalho, tem por principal objetivo desenvolver um programa que auxilie a cidade na coleta de reclamações de problemas, visando uma melhora na qualidade dela. A ideia surgiu pela percepção de diversos problemas ocorrentes na cidade, como alagamentos de ruas, buracos, falta de iluminação, quedas de energia, entre outros. O programa será proposto a prefeitura local como um auxílio na tomada de decisões e qual dos problemas resolver primeiro, sendo os mais agravantes os principais. O software contará com recursos, como, relatar problemas, lista dos problemas, mapa que mostra onde ocorre o problema, gráficos mostrando os dados de fácil visualização, entre outros.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Descrição do trabalho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290000" y="2894250"/>
            <a:ext cx="11724600" cy="50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O projeto propõe o desenvolvimento de um: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Software de auxílio na tomada de decisões e resolução de problemas da cidade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Principais funções: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Centralizar reclamações da população;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Identificar problemas urbanos;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Auxiliar a prefeitura na priorização de soluções;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Melhorar a comunicação entre população e governo;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Problema e solução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290000" y="2894250"/>
            <a:ext cx="11724600" cy="54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Problema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Reclamações da cidade estão espalhadas em várias plataformas;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Dificuldade em identificar quais problemas são mais urgentes;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Demora na resolução de problemas urbanos;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Solução proposta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Desenvolver um sistema que: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Centralize as reclamações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Organize os dados coletados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Identifique problemas prioritários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Objetivos do projeto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290000" y="2894250"/>
            <a:ext cx="11724600" cy="46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Objetivo geral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Desenvolver um software que permita registrar reclamações, visualizar problemas e auxiliar a prefeitura na tomada de decisões.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Objetivos específicos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Identificar locais com problemas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Coletar reclamações da população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Analisar dados coletados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Apresentar informações em gráficos e mapas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9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Justificativa e Público de Interesse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90000" y="2894250"/>
            <a:ext cx="11724600" cy="52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Justificativa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Muitos problemas urbanos não são resolvidos rapidamente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Falta de centralização das reclamações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Necessidade de maior transparência na gestão pública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Publico de interesse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Prefeituras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Órgãos governamentais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Governo federal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pt-BR" sz="2700">
                <a:latin typeface="Times New Roman"/>
                <a:ea typeface="Times New Roman"/>
                <a:cs typeface="Times New Roman"/>
                <a:sym typeface="Times New Roman"/>
              </a:rPr>
              <a:t>População da cidade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9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Referencial Teórico e Metodologia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290000" y="2894250"/>
            <a:ext cx="11724600" cy="5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Referências utilizadas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Cidade Inteligente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eOuve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Nowigo codebase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Metodologia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Desenvolvimento em </a:t>
            </a: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Arquitetura </a:t>
            </a: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MVC + Service Layer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Divisão de tarefas entre os membros da equipe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Funcionamento do Sistema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290000" y="2894250"/>
            <a:ext cx="117246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Etapas de desenvolvimento do software: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Sistema de envio de reclamações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Análise de dados e geração de gráficos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Mapa interativo para localização dos problemas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4294967295" type="ctrTitle"/>
          </p:nvPr>
        </p:nvSpPr>
        <p:spPr>
          <a:xfrm>
            <a:off x="351420" y="1708448"/>
            <a:ext cx="116091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Cronograma e Matriz RACI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290000" y="2894250"/>
            <a:ext cx="117246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Iniciar atividade da Entrega 1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(27/02/26) Gustavo - R/A, Rafael - A, Andrey - C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Desenvolvimento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(11/03/26) Gustavo - R, Rafael - R/A, Andrey - C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600">
                <a:latin typeface="Times New Roman"/>
                <a:ea typeface="Times New Roman"/>
                <a:cs typeface="Times New Roman"/>
                <a:sym typeface="Times New Roman"/>
              </a:rPr>
              <a:t>Preparação da primeira apresentação de slides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(03/04/26) Gustavo - </a:t>
            </a: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pt-BR" sz="2600">
                <a:latin typeface="Times New Roman"/>
                <a:ea typeface="Times New Roman"/>
                <a:cs typeface="Times New Roman"/>
                <a:sym typeface="Times New Roman"/>
              </a:rPr>
              <a:t>/C, Rafael - R, Andrey - I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353454" y="9220199"/>
            <a:ext cx="29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Helvetica Neue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